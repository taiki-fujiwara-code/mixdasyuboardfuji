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flipH="1">
            <a:off x="-914400" y="0"/>
            <a:ext cx="5943600" cy="6858000"/>
          </a:xfrm>
          <a:prstGeom prst="rtTriangle">
            <a:avLst/>
          </a:prstGeom>
          <a:solidFill>
            <a:srgbClr val="0C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6400800" y="-914400"/>
            <a:ext cx="3657600" cy="3657600"/>
          </a:xfrm>
          <a:prstGeom prst="rtTriangle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V="1">
            <a:off x="-457200" y="5852160"/>
            <a:ext cx="1554480" cy="1371600"/>
          </a:xfrm>
          <a:prstGeom prst="rtTriangle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</a:rPr>
              <a:t>PRODUCT SPEC — GROUP REVIEW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Noto Sans JP"/>
              </a:rPr>
              <a:t>グループ クチコミ管理機能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Noto Sans JP"/>
              </a:rPr>
              <a:t>一括返信・自動返信 画面設計仕様書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BDCF0"/>
                </a:solidFill>
                <a:latin typeface="Noto Sans JP"/>
              </a:rPr>
              <a:t>Version 1.0  /  2026.06.15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6126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Noto Sans JP"/>
              </a:rPr>
              <a:t>GMO</a:t>
            </a:r>
            <a:r>
              <a:rPr sz="2000" b="1">
                <a:solidFill>
                  <a:srgbClr val="CBDCF0"/>
                </a:solidFill>
                <a:latin typeface="Noto Sans JP"/>
              </a:rPr>
              <a:t>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Noto Sans JP"/>
              </a:rPr>
              <a:t>Copyright © GMO TECH All Rights reserved.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3108960" cy="5669280"/>
          </a:xfrm>
          <a:prstGeom prst="rect">
            <a:avLst/>
          </a:prstGeom>
          <a:solidFill>
            <a:srgbClr val="0C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Noto Sans JP"/>
              </a:rPr>
              <a:t>目次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BDCF0"/>
                </a:solidFill>
                <a:latin typeface="Noto Sans JP"/>
              </a:rPr>
              <a:t>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1887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4E99"/>
                </a:solidFill>
                <a:latin typeface="Noto Sans JP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188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12121"/>
                </a:solidFill>
                <a:latin typeface="Noto Sans JP"/>
              </a:rPr>
              <a:t>背景と本機能の目的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5564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4E99"/>
                </a:solidFill>
                <a:latin typeface="Noto Sans JP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75564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12121"/>
                </a:solidFill>
                <a:latin typeface="Noto Sans JP"/>
              </a:rPr>
              <a:t>現状の課題（単店舗UIとの比較）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2257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4E99"/>
                </a:solidFill>
                <a:latin typeface="Noto Sans JP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322576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12121"/>
                </a:solidFill>
                <a:latin typeface="Noto Sans JP"/>
              </a:rPr>
              <a:t>画面全体構成 / 遷移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89504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4E99"/>
                </a:solidFill>
                <a:latin typeface="Noto Sans JP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889504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12121"/>
                </a:solidFill>
                <a:latin typeface="Noto Sans JP"/>
              </a:rPr>
              <a:t>【画面A】一括返信 UI設計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456432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4E99"/>
                </a:solidFill>
                <a:latin typeface="Noto Sans JP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56432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12121"/>
                </a:solidFill>
                <a:latin typeface="Noto Sans JP"/>
              </a:rPr>
              <a:t>【画面B】自動返信ルール設定 UI設計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0233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4E99"/>
                </a:solidFill>
                <a:latin typeface="Noto Sans JP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0233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12121"/>
                </a:solidFill>
                <a:latin typeface="Noto Sans JP"/>
              </a:rPr>
              <a:t>返信テンプレート管理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59028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4E99"/>
                </a:solidFill>
                <a:latin typeface="Noto Sans JP"/>
              </a:rPr>
              <a:t>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59028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12121"/>
                </a:solidFill>
                <a:latin typeface="Noto Sans JP"/>
              </a:rPr>
              <a:t>設定項目・データモデル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157216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4E99"/>
                </a:solidFill>
                <a:latin typeface="Noto Sans JP"/>
              </a:rPr>
              <a:t>8.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157216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12121"/>
                </a:solidFill>
                <a:latin typeface="Noto Sans JP"/>
              </a:rPr>
              <a:t>権限・実装フェーズ / 要確認事項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1. 背景と本機能の目的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4E99"/>
                </a:solidFill>
                <a:latin typeface="Noto Sans JP"/>
              </a:rPr>
              <a:t>本機能の目的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8229600" cy="13258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212121"/>
                </a:solidFill>
                <a:latin typeface="Noto Sans JP"/>
              </a:rPr>
              <a:t>グループ管理機能において、クチコミの「一括返信」「自動返信ルール」設定を、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12121"/>
                </a:solidFill>
                <a:latin typeface="Noto Sans JP"/>
              </a:rPr>
              <a:t>現在のCSV/Excelインポート運用ではなくツール上で直接GUI操作で完結できるようにする。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12121"/>
                </a:solidFill>
                <a:latin typeface="Noto Sans JP"/>
              </a:rPr>
              <a:t>単店舗で既に提供されている「クチコミ返信パターン・自動返信」画面のUIを継承し、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212121"/>
                </a:solidFill>
                <a:latin typeface="Noto Sans JP"/>
              </a:rPr>
              <a:t>グループ横断の「適用店舗」概念のみを差分追加することで、学習コストを最小化する。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4E99"/>
                </a:solidFill>
                <a:latin typeface="Noto Sans JP"/>
              </a:rPr>
              <a:t>期待される効果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29000"/>
            <a:ext cx="2743200" cy="5029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021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</a:rPr>
              <a:t>運用効率の向上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CSVのDL/編集/UL作業が不要になり、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設定完了までの工数を1/5程度に短縮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429000"/>
            <a:ext cx="2743200" cy="5029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5021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</a:rPr>
              <a:t>ヒューマンエラー削減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9319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0690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テンプレ・条件をGUIでバリデーション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しながら設定でき、入力ミスが減少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429000"/>
            <a:ext cx="2743200" cy="5029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50215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Noto Sans JP"/>
              </a:rPr>
              <a:t>グループ横断の運用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9319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06908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複数店舗に対し同一ルールを一括で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適用でき、ブランド統制が容易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4E99"/>
                </a:solidFill>
                <a:latin typeface="Noto Sans JP"/>
              </a:rPr>
              <a:t>対象ユーザー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・グループ管理者（master / full）：ルール作成・編集・削除・一括返信実行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・編集ユーザー（edit）：一括返信のみ実行可、ルールは閲覧のみ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212121"/>
                </a:solidFill>
                <a:latin typeface="Noto Sans JP"/>
              </a:rPr>
              <a:t>・閲覧ユーザー（view）：参照のみ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2. 現状の課題（単店舗UIとの比較）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78408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※単店舗には「クチコミ返信パターン・自動返信」画面が既に存在。グループにも同等GUIを提供する。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280160" cy="41148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JP"/>
              </a:rPr>
              <a:t>観点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554480"/>
            <a:ext cx="2011680" cy="41148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627632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JP"/>
              </a:rPr>
              <a:t>単店舗（現状）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554480"/>
            <a:ext cx="2377440" cy="41148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62763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JP"/>
              </a:rPr>
              <a:t>グループ（現状）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54480"/>
            <a:ext cx="2560320" cy="41148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627632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Noto Sans JP"/>
              </a:rPr>
              <a:t>グループ（本案）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65960"/>
            <a:ext cx="1280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57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返信パターン登録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1965960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2057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GUIで20件まで登録可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196596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79" y="2057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CSVインポートのみ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6596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057400"/>
            <a:ext cx="2377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E821F"/>
                </a:solidFill>
                <a:latin typeface="Noto Sans JP"/>
              </a:rPr>
              <a:t>GUI登録 + 適用店舗指定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68880"/>
            <a:ext cx="128016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60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自動返信ON/OFF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2468880"/>
            <a:ext cx="201168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25603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パターン単位でチェックボックス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2468880"/>
            <a:ext cx="237744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79" y="25603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店舗毎にCSV運用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468880"/>
            <a:ext cx="256032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560320"/>
            <a:ext cx="2377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E821F"/>
                </a:solidFill>
                <a:latin typeface="Noto Sans JP"/>
              </a:rPr>
              <a:t>ルール単位でトグルスイッチ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971800"/>
            <a:ext cx="1280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0632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適用店舗の指定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2971800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3063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当店舗のみ（概念なし）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297180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79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CSV列で指定（不可視）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97180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063240"/>
            <a:ext cx="2377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E821F"/>
                </a:solidFill>
                <a:latin typeface="Noto Sans JP"/>
              </a:rPr>
              <a:t>全店舗 / 個別選択（明示UI）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474720"/>
            <a:ext cx="128016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5661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条件設定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3474720"/>
            <a:ext cx="201168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感情・★数・コメント有無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39" y="3474720"/>
            <a:ext cx="237744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79" y="3566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同上（CSVで定義）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474720"/>
            <a:ext cx="256032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0" y="3566160"/>
            <a:ext cx="2377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E821F"/>
                </a:solidFill>
                <a:latin typeface="Noto Sans JP"/>
              </a:rPr>
              <a:t>感情・★数・キーワード等 拡張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3977639"/>
            <a:ext cx="1280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06907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一括返信実行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737360" y="3977639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0" y="40690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3977639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79" y="406907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—（インポート前提）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977639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4069079"/>
            <a:ext cx="2377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E821F"/>
                </a:solidFill>
                <a:latin typeface="Noto Sans JP"/>
              </a:rPr>
              <a:t>絞込→選択→送信のStep導線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480560"/>
            <a:ext cx="128016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5720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操作の取消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37360" y="4480560"/>
            <a:ext cx="201168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2880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登録前なら可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39" y="4480560"/>
            <a:ext cx="237744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79" y="4572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再インポート要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4480560"/>
            <a:ext cx="256032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4572000"/>
            <a:ext cx="2377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EE821F"/>
                </a:solidFill>
                <a:latin typeface="Noto Sans JP"/>
              </a:rPr>
              <a:t>都度キャンセル/編集/削除可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3. 画面全体構成 / タブ遷移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F4E99"/>
                </a:solidFill>
                <a:latin typeface="Noto Sans JP"/>
              </a:rPr>
              <a:t>既存「クチコミ管理」配下に2タブを新規追加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Noto Sans JP"/>
              </a:rPr>
              <a:t>グループ管理  ＞  〇〇グループ  ＞  クチコミ管理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57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クチコミ一覧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920240"/>
            <a:ext cx="2057400" cy="502920"/>
          </a:xfrm>
          <a:prstGeom prst="rect">
            <a:avLst/>
          </a:prstGeom>
          <a:solidFill>
            <a:srgbClr val="1F4E99"/>
          </a:solidFill>
          <a:ln w="9525">
            <a:solidFill>
              <a:srgbClr val="1F4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01168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Noto Sans JP"/>
              </a:rPr>
              <a:t>一括返信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947672"/>
            <a:ext cx="502920" cy="201168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947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JP"/>
              </a:rPr>
              <a:t>NEW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920240"/>
            <a:ext cx="2057400" cy="502920"/>
          </a:xfrm>
          <a:prstGeom prst="rect">
            <a:avLst/>
          </a:prstGeom>
          <a:solidFill>
            <a:srgbClr val="1F4E99"/>
          </a:solidFill>
          <a:ln w="9525">
            <a:solidFill>
              <a:srgbClr val="1F4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Noto Sans JP"/>
              </a:rPr>
              <a:t>自動返信ルール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1947672"/>
            <a:ext cx="502920" cy="201168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1947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JP"/>
              </a:rPr>
              <a:t>NEW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1920240"/>
            <a:ext cx="2057400" cy="502920"/>
          </a:xfrm>
          <a:prstGeom prst="rect">
            <a:avLst/>
          </a:prstGeom>
          <a:solidFill>
            <a:srgbClr val="1F4E99"/>
          </a:solidFill>
          <a:ln w="9525">
            <a:solidFill>
              <a:srgbClr val="1F4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201168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Noto Sans JP"/>
              </a:rPr>
              <a:t>返信テンプレート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947672"/>
            <a:ext cx="502920" cy="201168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94767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JP"/>
              </a:rPr>
              <a:t>NEW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23160"/>
            <a:ext cx="8229600" cy="36576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各タブの役割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54680"/>
            <a:ext cx="1828800" cy="100584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Noto Sans JP"/>
              </a:rPr>
              <a:t>一括返信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154680"/>
            <a:ext cx="4937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3160" y="32461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未返信クチコミを絞り込み→対象を選択→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返信文を入力 or テンプレ選択 → 一括送信。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大量件数は Sidekiq で非同期処理。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154680"/>
            <a:ext cx="1463040" cy="100584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347472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1F4E99"/>
                </a:solidFill>
                <a:latin typeface="Noto Sans JP"/>
              </a:rPr>
              <a:t>Step UI（3段階）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51960"/>
            <a:ext cx="1828800" cy="100584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Noto Sans JP"/>
              </a:rPr>
              <a:t>自動返信ルール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251960"/>
            <a:ext cx="4937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43434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★数・キーワード・適用店舗ごとに条件設定。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新着クチコミに対し定期実行で自動返信。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ルールはトグルでON/OFF、優先度並べ替え。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251960"/>
            <a:ext cx="1463040" cy="100584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457200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1F4E99"/>
                </a:solidFill>
                <a:latin typeface="Noto Sans JP"/>
              </a:rPr>
              <a:t>単店舗UIをグループ向けに拡張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49240"/>
            <a:ext cx="1828800" cy="100584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669279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Noto Sans JP"/>
              </a:rPr>
              <a:t>返信テンプレート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349240"/>
            <a:ext cx="4937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5440679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本部承認済みの返信文をテンプレ化し、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一括返信・自動返信の両方から呼び出し可能。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本部での文言統制が可能。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349240"/>
            <a:ext cx="1463040" cy="100584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5669279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1F4E99"/>
                </a:solidFill>
                <a:latin typeface="Noto Sans JP"/>
              </a:rPr>
              <a:t>他タブから参照される共通資産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4. 【画面A】一括返信 UI設計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6666"/>
                </a:solidFill>
                <a:latin typeface="Noto Sans JP"/>
              </a:rPr>
              <a:t>Step1: 絞り込み → Step2: クチコミ選択 → Step3: 返信文設定 の3ステップ構成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</a:rPr>
              <a:t>クチコミ管理 &gt; 一括返信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1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4E99"/>
                </a:solidFill>
                <a:latin typeface="Noto Sans JP"/>
              </a:rPr>
              <a:t>■ Step1  クチコミを絞り込む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店舗 [すべて▼]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194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評価 ☑★1 ☑★2 ☐★3 ☑★4 ☑★5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ステータス [未返信▼]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期間 [yyyy/mm/dd〜yyyy/mm/dd]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7863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71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4E99"/>
                </a:solidFill>
                <a:latin typeface="Noto Sans JP"/>
              </a:rPr>
              <a:t>■ Step2  返信するクチコミを選択する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71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選択中: 12件 / 全32件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10128"/>
            <a:ext cx="7315200" cy="292608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34670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12121"/>
                </a:solidFill>
                <a:latin typeface="Noto Sans JP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3346704"/>
            <a:ext cx="12070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12121"/>
                </a:solidFill>
                <a:latin typeface="Noto Sans JP"/>
              </a:rPr>
              <a:t>店舗名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9736" y="3346704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12121"/>
                </a:solidFill>
                <a:latin typeface="Noto Sans JP"/>
              </a:rPr>
              <a:t>投稿日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3346704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12121"/>
                </a:solidFill>
                <a:latin typeface="Noto Sans JP"/>
              </a:rPr>
              <a:t>評価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5656" y="3346704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12121"/>
                </a:solidFill>
                <a:latin typeface="Noto Sans JP"/>
              </a:rPr>
              <a:t>クチコミ本文（抜粋）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6" y="3346704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12121"/>
                </a:solidFill>
                <a:latin typeface="Noto Sans JP"/>
              </a:rPr>
              <a:t>状態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602736"/>
            <a:ext cx="7315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363016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6" y="3630168"/>
            <a:ext cx="12070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渋谷店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9736" y="3630168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06/10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3630168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★★★★☆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5656" y="363016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スタッフの対応がとても丁寧でした…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6056" y="3630168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EE821F"/>
                </a:solidFill>
                <a:latin typeface="Noto Sans JP"/>
              </a:rPr>
              <a:t>未返信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877056"/>
            <a:ext cx="731520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390448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9576" y="3904488"/>
            <a:ext cx="12070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新宿店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9736" y="3904488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06/09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74136" y="3904488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★★★☆☆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05656" y="390448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駐車場が分かりにくかったです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06056" y="3904488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EE821F"/>
                </a:solidFill>
                <a:latin typeface="Noto Sans JP"/>
              </a:rPr>
              <a:t>未返信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151376"/>
            <a:ext cx="7315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" y="417880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9576" y="4178808"/>
            <a:ext cx="12070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池袋店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59736" y="4178808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06/09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4136" y="4178808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★★★★★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05656" y="417880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とても良かったです、また行きます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06056" y="4178808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EE821F"/>
                </a:solidFill>
                <a:latin typeface="Noto Sans JP"/>
              </a:rPr>
              <a:t>未返信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425696"/>
            <a:ext cx="731520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" y="445312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9576" y="4453128"/>
            <a:ext cx="12070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立川店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59736" y="4453128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06/08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74136" y="4453128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★★☆☆☆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05656" y="445312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待ち時間が長く感じた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6056" y="4453128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EE821F"/>
                </a:solidFill>
                <a:latin typeface="Noto Sans JP"/>
              </a:rPr>
              <a:t>未返信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4700016"/>
            <a:ext cx="73152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" y="4727448"/>
            <a:ext cx="2926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9576" y="4727448"/>
            <a:ext cx="12070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町田店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59736" y="4727448"/>
            <a:ext cx="841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06/07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74136" y="4727448"/>
            <a:ext cx="658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★★★★★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05656" y="4727448"/>
            <a:ext cx="31272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素晴らしい接客でした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06056" y="4727448"/>
            <a:ext cx="749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E8B57"/>
                </a:solidFill>
                <a:latin typeface="Noto Sans JP"/>
              </a:rPr>
              <a:t>返信済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212080"/>
            <a:ext cx="7863840" cy="86868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257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4E99"/>
                </a:solidFill>
                <a:latin typeface="Noto Sans JP"/>
              </a:rPr>
              <a:t>■ Step3  返信文を設定する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5532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返信モード  ● 共通文を入力   ○ テンプレートから選択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5779008"/>
            <a:ext cx="548640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579729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66666"/>
                </a:solidFill>
                <a:latin typeface="Noto Sans JP"/>
              </a:rPr>
              <a:t>［返信文テキストエリア／最大300文字］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46520" y="5760720"/>
            <a:ext cx="1691640" cy="292608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577900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JP"/>
              </a:rPr>
              <a:t>🤖 AIで返信文生成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" y="6217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EE821F"/>
                </a:solidFill>
                <a:latin typeface="Noto Sans JP"/>
              </a:rPr>
              <a:t>⚠ 選択中の3件のクチコミに返信します。この操作は取り消せません。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0" y="6172200"/>
            <a:ext cx="1280160" cy="292608"/>
          </a:xfrm>
          <a:prstGeom prst="roundRect">
            <a:avLst>
              <a:gd name="adj" fmla="val 10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0" y="61996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一括返信を実行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4. 【画面A】一括返信 機能詳細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絞り込み条件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05840" cy="32004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325880"/>
            <a:ext cx="1737360" cy="32004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35331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入力種別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325880"/>
            <a:ext cx="960120" cy="32004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3533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初期値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19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00784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店舗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1645919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1700784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ドロップダウン（複数選択可）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645919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700784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すべて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29967"/>
            <a:ext cx="1005840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084831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評価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029967"/>
            <a:ext cx="1737360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2084831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チェックボックス ★1-★5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029967"/>
            <a:ext cx="960120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2084831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すべて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14015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468879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返信ステータス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2414015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2468879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すべて / 未返信 / 返信済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414015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2468879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未返信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798063"/>
            <a:ext cx="1005840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852927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期間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2798063"/>
            <a:ext cx="1737360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8760" y="2852927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投稿日 from-to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2798063"/>
            <a:ext cx="960120" cy="384048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2852927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過去30日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182111"/>
            <a:ext cx="10058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3236975"/>
            <a:ext cx="914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キーワード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3182111"/>
            <a:ext cx="1737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08760" y="3236975"/>
            <a:ext cx="164591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クチコミ本文 部分一致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182111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3236975"/>
            <a:ext cx="868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（空）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返信モード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1325880"/>
            <a:ext cx="164592" cy="9601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19472" y="1325880"/>
            <a:ext cx="39502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141732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共通文を入力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17373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全選択クチコミに同一テキストを返信。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300文字制限、文字数カウンタ表示。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2404872"/>
            <a:ext cx="164592" cy="9601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19472" y="2404872"/>
            <a:ext cx="39502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24963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テンプレートから選択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281635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登録済みテンプレを呼び出し。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選択後の編集も可能。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483863"/>
            <a:ext cx="164592" cy="9601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19472" y="3483863"/>
            <a:ext cx="39502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74920" y="3575303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🤖 AIで返信文を生成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4920" y="389534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トーン・文字数・追加指示を指定。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複数件は個別生成オプション有。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実行フローとフィードバック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07492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16636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①対象選択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74519" y="52852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4E99"/>
                </a:solidFill>
                <a:latin typeface="Noto Sans JP"/>
              </a:rPr>
              <a:t>▶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148840" y="507492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1F4E9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48840" y="516636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②確認モーダル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0" y="52852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4E99"/>
                </a:solidFill>
                <a:latin typeface="Noto Sans JP"/>
              </a:rPr>
              <a:t>▶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840480" y="507492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0" y="516636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③Sidekiqジョブ</a:t>
            </a:r>
          </a:p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（100件超時）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57800" y="52852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4E99"/>
                </a:solidFill>
                <a:latin typeface="Noto Sans JP"/>
              </a:rPr>
              <a:t>▶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532120" y="507492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32120" y="516636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④進捗表示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52852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4E99"/>
                </a:solidFill>
                <a:latin typeface="Noto Sans JP"/>
              </a:rPr>
              <a:t>▶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23760" y="5074920"/>
            <a:ext cx="1417320" cy="777240"/>
          </a:xfrm>
          <a:prstGeom prst="roundRect">
            <a:avLst>
              <a:gd name="adj" fmla="val 10000"/>
            </a:avLst>
          </a:prstGeom>
          <a:solidFill>
            <a:srgbClr val="1F4E99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23760" y="5166360"/>
            <a:ext cx="1417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⑤完了バナー</a:t>
            </a:r>
          </a:p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＋メール通知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※100件超は非同期処理。完了後にメール通知 + 非同期タスク一覧から進捗確認可。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5. 【画面B】自動返信ルール設定 UI設計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66666"/>
                </a:solidFill>
                <a:latin typeface="Noto Sans JP"/>
              </a:rPr>
              <a:t>単店舗の「クチコミ返信パターン・自動返信」画面のUIを踏襲し、グループ向けに「適用店舗」を追加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8229600" cy="4983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</a:rPr>
              <a:t>クチコミ管理 &gt; 自動返信ルール設定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FFFFFF"/>
                </a:solidFill>
                <a:latin typeface="Noto Sans JP"/>
              </a:rPr>
              <a:t>☑ 自動返信 一括有効化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返信パターンを最大20件登録できます。条件（評価・キーワード・店舗）に一致する新着クチコミに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対し、毎時0分に自動で返信します。優先度はドラッグ＆ドロップで変更可能です。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42316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7802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66666"/>
                </a:solidFill>
                <a:latin typeface="Noto Sans JP"/>
              </a:rPr>
              <a:t>⋮⋮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96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12121"/>
                </a:solidFill>
                <a:latin typeface="Noto Sans JP"/>
              </a:rPr>
              <a:t>返信パターン名（20文字以内）  必須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496312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51460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JP"/>
              </a:rPr>
              <a:t>● 有効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788920"/>
            <a:ext cx="6400800" cy="256032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2807208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66666"/>
                </a:solidFill>
                <a:latin typeface="Noto Sans JP"/>
              </a:rPr>
              <a:t>例：★1-2 低評価へのお詫び返信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36391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12121"/>
                </a:solidFill>
                <a:latin typeface="Noto Sans JP"/>
              </a:rPr>
              <a:t>クチコミの内容（条件） 必須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3428999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44728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感情分析評価 [▼]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39" y="3428999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59" y="344728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★数の選択 [▼]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3428999"/>
            <a:ext cx="12801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3447287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212121"/>
                </a:solidFill>
                <a:latin typeface="Noto Sans JP"/>
              </a:rPr>
              <a:t>コメントの有無 [▼]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3758183"/>
            <a:ext cx="457200" cy="219456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75818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Noto Sans JP"/>
              </a:rPr>
              <a:t>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767327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12121"/>
                </a:solidFill>
                <a:latin typeface="Noto Sans JP"/>
              </a:rPr>
              <a:t>適用店舗：● 全店舗(32)  ○ 個別選択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136391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12121"/>
                </a:solidFill>
                <a:latin typeface="Noto Sans JP"/>
              </a:rPr>
              <a:t>クチコミ返信内容 必須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136391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☑ 自動返信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3428999"/>
            <a:ext cx="338328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3447287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66666"/>
                </a:solidFill>
                <a:latin typeface="Noto Sans JP"/>
              </a:rPr>
              <a:t>この度はご来店いただきありがとうございました。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666666"/>
                </a:solidFill>
                <a:latin typeface="Noto Sans JP"/>
              </a:rPr>
              <a:t>貴重なご意見、誠にありがとうございます…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977640"/>
            <a:ext cx="1143000" cy="2926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F4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00507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+ パターン追加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5806440"/>
            <a:ext cx="128016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58521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キャンセル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5806440"/>
            <a:ext cx="1508760" cy="329184"/>
          </a:xfrm>
          <a:prstGeom prst="roundRect">
            <a:avLst>
              <a:gd name="adj" fmla="val 10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5852160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登録する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5. 【画面B】自動返信ルール 機能詳細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単店舗UIからの拡張ポイント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適用店舗の追加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「全店舗 / 個別選択」を新設。個別選択時は検索可能なチェックリストUI。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3852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02536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93852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優先度の概念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38528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上から順に評価。ドラッグ&amp;ドロップで並び替え可能（⋮⋮ハンドル）。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0545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69464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05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キーワード条件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05456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感情分析・★数に加え、本文中のキーワード「含む/含まない」を追加。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723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36391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07238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1日の返信上限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72384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過度な自動返信を防止する1日あたりの上限件数設定（無制限可）。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3931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03320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6393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212121"/>
                </a:solidFill>
                <a:latin typeface="Noto Sans JP"/>
              </a:rPr>
              <a:t>適用タイミング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63931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212121"/>
                </a:solidFill>
                <a:latin typeface="Noto Sans JP"/>
              </a:rPr>
              <a:t>投稿後 即時 / N時間後（0-24）の遅延設定でクッション期間を確保。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ルール競合時の挙動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8229600" cy="141732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83480"/>
            <a:ext cx="7863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• 複数ルールが同一クチコミにマッチした場合、優先度の高い（上位の）ルールのみを適用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• 優先度の低いマッチルールはスキップ（ログに記録）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• 「返信済みクチコミ」はデフォルトでスキップ。上書き有効化も選択可能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212121"/>
                </a:solidFill>
                <a:latin typeface="Noto Sans JP"/>
              </a:rPr>
              <a:t>• 1日の返信上限に達したルールは翌日まで待機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6. 返信テンプレート管理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66666"/>
                </a:solidFill>
                <a:latin typeface="Noto Sans JP"/>
              </a:rPr>
              <a:t>一括返信・自動返信から共通参照する返信文テンプレート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822960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4E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Noto Sans JP"/>
              </a:rPr>
              <a:t>返信テンプレート管理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472184"/>
            <a:ext cx="1325880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490472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+ 新規追加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8046720" cy="310896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1" y="2011679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12121"/>
                </a:solidFill>
                <a:latin typeface="Noto Sans JP"/>
              </a:rPr>
              <a:t>テンプレート名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011679"/>
            <a:ext cx="3511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12121"/>
                </a:solidFill>
                <a:latin typeface="Noto Sans JP"/>
              </a:rPr>
              <a:t>本文プレビュー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011679"/>
            <a:ext cx="1225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12121"/>
                </a:solidFill>
                <a:latin typeface="Noto Sans JP"/>
              </a:rPr>
              <a:t>メモ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011679"/>
            <a:ext cx="1042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12121"/>
                </a:solidFill>
                <a:latin typeface="Noto Sans JP"/>
              </a:rPr>
              <a:t>操作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76856"/>
            <a:ext cx="8046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1" y="2368296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高評価への感謝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2368296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この度は素晴らしいご評価をいただき誠にありがとうございます…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368296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★4-5用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2368296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4E99"/>
                </a:solidFill>
                <a:latin typeface="Noto Sans JP"/>
              </a:rPr>
              <a:t>編集 削除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734056"/>
            <a:ext cx="8046720" cy="45720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1" y="2825496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低評価へのお詫び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2825496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ご不便をおかけし誠に申し訳ございません。今後の改善に活かして…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2825496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★1-2用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2825496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4E99"/>
                </a:solidFill>
                <a:latin typeface="Noto Sans JP"/>
              </a:rPr>
              <a:t>編集 削除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191256"/>
            <a:ext cx="8046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1" y="3282696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駐車場ご案内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3282696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駐車場は店舗裏の○○駐車場をご利用いただけます…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3282696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問い合わせ用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3282696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4E99"/>
                </a:solidFill>
                <a:latin typeface="Noto Sans JP"/>
              </a:rPr>
              <a:t>編集 削除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648456"/>
            <a:ext cx="8046720" cy="45720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1" y="3739896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待ち時間お詫び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3739896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お待たせしてしまい申し訳ございませんでした…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3739896"/>
            <a:ext cx="1225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クレーム用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3739896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1F4E99"/>
                </a:solidFill>
                <a:latin typeface="Noto Sans JP"/>
              </a:rPr>
              <a:t>編集 削除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テンプレート設定項目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166360"/>
            <a:ext cx="1691640" cy="292608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193792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項目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5166360"/>
            <a:ext cx="1325880" cy="292608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519379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5166360"/>
            <a:ext cx="2240280" cy="292608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519379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制約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5166360"/>
            <a:ext cx="2834640" cy="292608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519379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備考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458968"/>
            <a:ext cx="16916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5513832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テンプレート名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0" y="5458968"/>
            <a:ext cx="1325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67712" y="5513832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string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5458968"/>
            <a:ext cx="2240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9312" y="5513832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必須・最大50文字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5458968"/>
            <a:ext cx="28346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25312" y="5513832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一覧で表示される識別名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788152"/>
            <a:ext cx="16916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5843016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本文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94560" y="5788152"/>
            <a:ext cx="132588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67712" y="5843016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text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5788152"/>
            <a:ext cx="224028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39312" y="5843016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必須・最大300文字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5788152"/>
            <a:ext cx="28346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25312" y="5843016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Googleの返信文字数上限に準拠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117336"/>
            <a:ext cx="16916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" y="6172200"/>
            <a:ext cx="1545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メモ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194560" y="6117336"/>
            <a:ext cx="1325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67712" y="617220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string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66160" y="6117336"/>
            <a:ext cx="22402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39312" y="6172200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任意・最大100文字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52160" y="6117336"/>
            <a:ext cx="28346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25312" y="6172200"/>
            <a:ext cx="2688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内部運用メモ（返信文には含まれない）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7. 設定項目・データモデル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自動返信ルール 設定項目一覧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423160" cy="292608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280160"/>
            <a:ext cx="777240" cy="292608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30759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必須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280160"/>
            <a:ext cx="1234440" cy="292608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30759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280160"/>
            <a:ext cx="3611880" cy="292608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07592"/>
            <a:ext cx="3611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バリデーション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572768"/>
            <a:ext cx="2423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62763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ルール名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572768"/>
            <a:ext cx="777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1627632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572768"/>
            <a:ext cx="1234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1627632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572768"/>
            <a:ext cx="3611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627632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最大50文字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901952"/>
            <a:ext cx="242316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195681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適用対象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1901952"/>
            <a:ext cx="7772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195681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1901952"/>
            <a:ext cx="12344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59" y="195681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enum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1901952"/>
            <a:ext cx="361188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1956816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全店舗 / 個別店舗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231136"/>
            <a:ext cx="2423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228600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選択店舗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2231136"/>
            <a:ext cx="777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2286000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2231136"/>
            <a:ext cx="1234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59" y="22860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array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2231136"/>
            <a:ext cx="3611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228600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適用対象=個別の場合1件以上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560320"/>
            <a:ext cx="242316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61518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評価条件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2560320"/>
            <a:ext cx="7772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2615184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2560320"/>
            <a:ext cx="12344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94759" y="2615184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array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560320"/>
            <a:ext cx="361188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2615184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★1-5の複数選択（未指定=全評価）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889504"/>
            <a:ext cx="2423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294436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キーワード条件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2889504"/>
            <a:ext cx="777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71800" y="294436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2889504"/>
            <a:ext cx="1234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94759" y="294436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array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2889504"/>
            <a:ext cx="3611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74920" y="294436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{word, match_type} 最大10個 / 各50文字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218687"/>
            <a:ext cx="242316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273551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返信済みの扱い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3218687"/>
            <a:ext cx="7772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71800" y="3273551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49039" y="3218687"/>
            <a:ext cx="12344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94759" y="3273551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bool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0" y="3218687"/>
            <a:ext cx="361188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4920" y="3273551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スキップ（推奨） / 上書き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547872"/>
            <a:ext cx="2423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3602736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返信モード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3547872"/>
            <a:ext cx="777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971800" y="360273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49039" y="3547872"/>
            <a:ext cx="1234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94759" y="3602736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enum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0" y="3547872"/>
            <a:ext cx="3611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74920" y="3602736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テンプレート / 固定文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3877056"/>
            <a:ext cx="242316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393192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固定返信文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26080" y="3877056"/>
            <a:ext cx="7772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71800" y="3931920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9039" y="3877056"/>
            <a:ext cx="12344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94759" y="393192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text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29200" y="3877056"/>
            <a:ext cx="361188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74920" y="39319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返信モード=固定文の場合 / 最大300文字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206240"/>
            <a:ext cx="2423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4261103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有効/無効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4206240"/>
            <a:ext cx="777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971800" y="4261103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○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49039" y="4206240"/>
            <a:ext cx="1234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94759" y="4261103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bool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0" y="4206240"/>
            <a:ext cx="3611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74920" y="4261103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デフォルト: 有効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535424"/>
            <a:ext cx="242316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" y="459028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適用タイミング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26080" y="4535424"/>
            <a:ext cx="7772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71800" y="459028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○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749039" y="4535424"/>
            <a:ext cx="123444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794759" y="4590288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int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0" y="4535424"/>
            <a:ext cx="3611880" cy="329184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74920" y="459028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0時間=即時 〜 24時間後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864607"/>
            <a:ext cx="24231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4919471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1日の返信上限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26080" y="4864607"/>
            <a:ext cx="7772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971800" y="4919471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△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749039" y="4864607"/>
            <a:ext cx="12344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94759" y="4919471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int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029200" y="4864607"/>
            <a:ext cx="36118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74920" y="4919471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null=無制限 / 1〜9999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45720" y="164592"/>
            <a:ext cx="960120" cy="411480"/>
          </a:xfrm>
          <a:prstGeom prst="parallelogram">
            <a:avLst>
              <a:gd name="adj" fmla="val 35000"/>
            </a:avLst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26679" y="292608"/>
            <a:ext cx="13716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8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18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6492240"/>
            <a:ext cx="4572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Noto Sans JP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212121"/>
                </a:solidFill>
                <a:latin typeface="Noto Sans JP"/>
              </a:rPr>
              <a:t>8. 権限・実装フェーズ / 要確認事項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権限マトリクス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017520" cy="2743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JP"/>
              </a:rPr>
              <a:t>操作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280160"/>
            <a:ext cx="1097280" cy="2743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9844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JP"/>
              </a:rPr>
              <a:t>master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80160"/>
            <a:ext cx="1097280" cy="2743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9844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JP"/>
              </a:rPr>
              <a:t>full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280160"/>
            <a:ext cx="1097280" cy="2743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29844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JP"/>
              </a:rPr>
              <a:t>edit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280160"/>
            <a:ext cx="1097280" cy="274320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29844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Noto Sans JP"/>
              </a:rPr>
              <a:t>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554480"/>
            <a:ext cx="3017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591056"/>
            <a:ext cx="2926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一括返信 実行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15544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39" y="159105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544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59105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5544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159105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55448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59105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828800"/>
            <a:ext cx="301752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1865376"/>
            <a:ext cx="2926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自動返信ルール 作成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1828800"/>
            <a:ext cx="109728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39" y="186537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828800"/>
            <a:ext cx="109728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186537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1828800"/>
            <a:ext cx="109728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186537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1828800"/>
            <a:ext cx="109728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186537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103120"/>
            <a:ext cx="3017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2139696"/>
            <a:ext cx="2926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自動返信ルール 編集/削除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1031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39" y="213969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21031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213969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21031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213969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210312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213969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377439"/>
            <a:ext cx="301752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2414015"/>
            <a:ext cx="2926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自動返信ルール 参照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377439"/>
            <a:ext cx="109728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39" y="2414015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377439"/>
            <a:ext cx="109728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17720" y="2414015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2377439"/>
            <a:ext cx="109728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5000" y="2414015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2377439"/>
            <a:ext cx="1097280" cy="274320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2414015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651760"/>
            <a:ext cx="3017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2688336"/>
            <a:ext cx="2926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12121"/>
                </a:solidFill>
                <a:latin typeface="Noto Sans JP"/>
              </a:rPr>
              <a:t>返信テンプレート 管理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26517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20439" y="268833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0" y="26517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17720" y="268833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F4E99"/>
                </a:solidFill>
                <a:latin typeface="Noto Sans JP"/>
              </a:rPr>
              <a:t>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0" y="26517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15000" y="268833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2651760"/>
            <a:ext cx="10972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12280" y="2688336"/>
            <a:ext cx="1005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EE821F"/>
                </a:solidFill>
                <a:latin typeface="Noto Sans JP"/>
              </a:rPr>
              <a:t>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実装フェーズ案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657600"/>
            <a:ext cx="868680" cy="310896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70332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Phase 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25880" y="3657600"/>
            <a:ext cx="6217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17320" y="3703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一括返信（固定文・テンプレ選択）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43800" y="3657600"/>
            <a:ext cx="1143000" cy="310896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43800" y="3703320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M / 5-8日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4023360"/>
            <a:ext cx="868680" cy="310896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406908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Phase 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25880" y="4023360"/>
            <a:ext cx="6217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417320" y="406908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自動返信ルール基本（評価条件）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43800" y="4023360"/>
            <a:ext cx="1143000" cy="310896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43800" y="4069080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M / 5-8日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389120"/>
            <a:ext cx="868680" cy="310896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443484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Phase 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25880" y="4389120"/>
            <a:ext cx="6217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417320" y="443484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キーワード条件・優先度並べ替え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43800" y="4389120"/>
            <a:ext cx="1143000" cy="310896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43800" y="4434840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S / 3-5日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754880"/>
            <a:ext cx="868680" cy="310896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480060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Phase 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25880" y="4754880"/>
            <a:ext cx="6217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417320" y="480060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AI返信文生成 連携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543800" y="4754880"/>
            <a:ext cx="1143000" cy="310896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43800" y="4800600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S / 3-5日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5120640"/>
            <a:ext cx="868680" cy="310896"/>
          </a:xfrm>
          <a:prstGeom prst="rect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5166359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Noto Sans JP"/>
              </a:rPr>
              <a:t>Phase 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25880" y="5120640"/>
            <a:ext cx="621792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417320" y="5166359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詳細ログ・レポート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43800" y="5120640"/>
            <a:ext cx="1143000" cy="310896"/>
          </a:xfrm>
          <a:prstGeom prst="rect">
            <a:avLst/>
          </a:prstGeom>
          <a:solidFill>
            <a:srgbClr val="F5F6F8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43800" y="5166359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66666"/>
                </a:solidFill>
                <a:latin typeface="Noto Sans JP"/>
              </a:rPr>
              <a:t>S / 2-3日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5577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4E99"/>
                </a:solidFill>
                <a:latin typeface="Noto Sans JP"/>
              </a:rPr>
              <a:t>要確認事項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7200" y="5989320"/>
            <a:ext cx="8229600" cy="777240"/>
          </a:xfrm>
          <a:prstGeom prst="rect">
            <a:avLst/>
          </a:prstGeom>
          <a:solidFill>
            <a:srgbClr val="FFF3CD"/>
          </a:solidFill>
          <a:ln w="9525">
            <a:solidFill>
              <a:srgbClr val="EE8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6053328"/>
            <a:ext cx="795527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① Google Business Profile API の返信レート制限（上限/日）の最終値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② 自動返信処理頻度（毎時 / 30分毎 / 即時Webhook）の方針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212121"/>
                </a:solidFill>
                <a:latin typeface="Noto Sans JP"/>
              </a:rPr>
              <a:t>③ 既存 pattern_auto_replies テーブルとの統合 or 並存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flipH="1">
            <a:off x="-914400" y="0"/>
            <a:ext cx="5943600" cy="6858000"/>
          </a:xfrm>
          <a:prstGeom prst="rtTriangle">
            <a:avLst/>
          </a:prstGeom>
          <a:solidFill>
            <a:srgbClr val="0C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6400800" y="-914400"/>
            <a:ext cx="3657600" cy="3657600"/>
          </a:xfrm>
          <a:prstGeom prst="rtTriangle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flipV="1">
            <a:off x="-457200" y="5852160"/>
            <a:ext cx="1554480" cy="1371600"/>
          </a:xfrm>
          <a:prstGeom prst="rtTriangle">
            <a:avLst/>
          </a:prstGeom>
          <a:solidFill>
            <a:srgbClr val="1F4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08960" y="30175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F4E99"/>
                </a:solidFill>
                <a:latin typeface="Noto Sans JP"/>
              </a:rPr>
              <a:t>GMO</a:t>
            </a:r>
            <a:r>
              <a:rPr sz="4000" b="1">
                <a:solidFill>
                  <a:srgbClr val="666666"/>
                </a:solidFill>
                <a:latin typeface="Noto Sans JP"/>
              </a:rPr>
              <a:t>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666666"/>
                </a:solidFill>
                <a:latin typeface="Noto Sans JP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66666"/>
                </a:solidFill>
                <a:latin typeface="Noto Sans JP"/>
              </a:rPr>
              <a:t>Copyright © GMO TECH All Rights reserved. 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